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15c3dab2ee5498e" /><Relationship Type="http://schemas.openxmlformats.org/officeDocument/2006/relationships/extended-properties" Target="/docProps/app.xml" Id="R8c828fd6736d49f1" /><Relationship Type="http://schemas.openxmlformats.org/officeDocument/2006/relationships/officeDocument" Target="/ppt/presentation.xml" Id="R2d9f3ac8486b4a6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1a957cf249e4769"/>
  </p:sldMasterIdLst>
  <p:notesMasterIdLst>
    <p:notesMasterId xmlns:r="http://schemas.openxmlformats.org/officeDocument/2006/relationships" r:id="R1116c36e4d0742f0"/>
  </p:notesMasterIdLst>
  <p:sldIdLst>
    <p:sldId xmlns:r="http://schemas.openxmlformats.org/officeDocument/2006/relationships" id="256" r:id="Rd20713dc90604715"/>
    <p:sldId xmlns:r="http://schemas.openxmlformats.org/officeDocument/2006/relationships" id="257" r:id="R0eea27a0b4394514"/>
    <p:sldId xmlns:r="http://schemas.openxmlformats.org/officeDocument/2006/relationships" id="258" r:id="R0e0fbe2b332443b2"/>
    <p:sldId xmlns:r="http://schemas.openxmlformats.org/officeDocument/2006/relationships" id="259" r:id="R1a92e0fe39c2441a"/>
    <p:sldId xmlns:r="http://schemas.openxmlformats.org/officeDocument/2006/relationships" id="260" r:id="R89a845d7e69643b8"/>
    <p:sldId xmlns:r="http://schemas.openxmlformats.org/officeDocument/2006/relationships" id="261" r:id="Ra73a3ae3b9c54bc2"/>
    <p:sldId xmlns:r="http://schemas.openxmlformats.org/officeDocument/2006/relationships" id="262" r:id="R52d96ae6297e4c4b"/>
    <p:sldId xmlns:r="http://schemas.openxmlformats.org/officeDocument/2006/relationships" id="263" r:id="R2a547c97fb5c4e76"/>
    <p:sldId xmlns:r="http://schemas.openxmlformats.org/officeDocument/2006/relationships" id="264" r:id="R2f2f9743f71a4d16"/>
    <p:sldId xmlns:r="http://schemas.openxmlformats.org/officeDocument/2006/relationships" id="265" r:id="R648d8fb6eb5f46e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baff8d71b77406c" /><Relationship Type="http://schemas.openxmlformats.org/officeDocument/2006/relationships/slideMaster" Target="/ppt/slideMasters/slideMaster1.xml" Id="R61a957cf249e4769" /><Relationship Type="http://schemas.openxmlformats.org/officeDocument/2006/relationships/notesMaster" Target="/ppt/notesMasters/notesMaster1.xml" Id="R1116c36e4d0742f0" /><Relationship Type="http://schemas.openxmlformats.org/officeDocument/2006/relationships/presProps" Target="/ppt/presProps.xml" Id="Rb8da711061164837" /><Relationship Type="http://schemas.openxmlformats.org/officeDocument/2006/relationships/tableStyles" Target="/ppt/tableStyles.xml" Id="Rb9ea586c9a1140be" /><Relationship Type="http://schemas.openxmlformats.org/officeDocument/2006/relationships/slide" Target="/ppt/slides/slide1.xml" Id="Rd20713dc90604715" /><Relationship Type="http://schemas.openxmlformats.org/officeDocument/2006/relationships/slide" Target="/ppt/slides/slide2.xml" Id="R0eea27a0b4394514" /><Relationship Type="http://schemas.openxmlformats.org/officeDocument/2006/relationships/slide" Target="/ppt/slides/slide3.xml" Id="R0e0fbe2b332443b2" /><Relationship Type="http://schemas.openxmlformats.org/officeDocument/2006/relationships/slide" Target="/ppt/slides/slide4.xml" Id="R1a92e0fe39c2441a" /><Relationship Type="http://schemas.openxmlformats.org/officeDocument/2006/relationships/slide" Target="/ppt/slides/slide5.xml" Id="R89a845d7e69643b8" /><Relationship Type="http://schemas.openxmlformats.org/officeDocument/2006/relationships/slide" Target="/ppt/slides/slide6.xml" Id="Ra73a3ae3b9c54bc2" /><Relationship Type="http://schemas.openxmlformats.org/officeDocument/2006/relationships/slide" Target="/ppt/slides/slide7.xml" Id="R52d96ae6297e4c4b" /><Relationship Type="http://schemas.openxmlformats.org/officeDocument/2006/relationships/slide" Target="/ppt/slides/slide8.xml" Id="R2a547c97fb5c4e76" /><Relationship Type="http://schemas.openxmlformats.org/officeDocument/2006/relationships/slide" Target="/ppt/slides/slide9.xml" Id="R2f2f9743f71a4d16" /><Relationship Type="http://schemas.openxmlformats.org/officeDocument/2006/relationships/slide" Target="/ppt/slides/slide10.xml" Id="R648d8fb6eb5f46e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7c34fd006c2463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4b1d961130d4f30" /><Relationship Type="http://schemas.openxmlformats.org/officeDocument/2006/relationships/notesMaster" Target="/ppt/notesMasters/notesMaster1.xml" Id="Rc352e2a029f24c7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6d1f0203497453c" /><Relationship Type="http://schemas.openxmlformats.org/officeDocument/2006/relationships/notesMaster" Target="/ppt/notesMasters/notesMaster1.xml" Id="R7887917b5e65467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bcf648ae6dd49fb" /><Relationship Type="http://schemas.openxmlformats.org/officeDocument/2006/relationships/notesMaster" Target="/ppt/notesMasters/notesMaster1.xml" Id="R496c52982d7d433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e105f2ebf204813" /><Relationship Type="http://schemas.openxmlformats.org/officeDocument/2006/relationships/notesMaster" Target="/ppt/notesMasters/notesMaster1.xml" Id="R5ed777a50c4540f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d4857eb43934334" /><Relationship Type="http://schemas.openxmlformats.org/officeDocument/2006/relationships/notesMaster" Target="/ppt/notesMasters/notesMaster1.xml" Id="R8c1550371b67467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7a7466dc27c4201" /><Relationship Type="http://schemas.openxmlformats.org/officeDocument/2006/relationships/notesMaster" Target="/ppt/notesMasters/notesMaster1.xml" Id="R63477f1ed2cf487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c541ab6a9a546ac" /><Relationship Type="http://schemas.openxmlformats.org/officeDocument/2006/relationships/notesMaster" Target="/ppt/notesMasters/notesMaster1.xml" Id="R914f6b98f2774e8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7e0a79e245a4351" /><Relationship Type="http://schemas.openxmlformats.org/officeDocument/2006/relationships/notesMaster" Target="/ppt/notesMasters/notesMaster1.xml" Id="R258c63d3cd6f482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adb1ed37e2d44d9" /><Relationship Type="http://schemas.openxmlformats.org/officeDocument/2006/relationships/notesMaster" Target="/ppt/notesMasters/notesMaster1.xml" Id="R074024d137464fd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87bb8ec54e64b6b" /><Relationship Type="http://schemas.openxmlformats.org/officeDocument/2006/relationships/notesMaster" Target="/ppt/notesMasters/notesMaster1.xml" Id="R34f973cafc1a424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开场：我们解决的不是“生成文字”，而是把会议内容可靠地转成团队真正执行的任务。来源：课程介绍.pdf；README.md。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按照课程“真实需要”和“完整数据闭环”的评分点说明问题。来源：课程介绍.pdf。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汇报时由每位成员用一句话说明个人贡献；不要只说“都用GPT完成”。来源：团队分工与提交清单.md。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逐步讲一遍数据流，强调AI只是中间能力，最终仍受后端规则和人工确认约束。来源：docs/AI任务提取接口与前后端联调说明.md。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这是本机浏览器端到端实测结果。演示顺序：登录→录入会议→AI提取→确认草稿→看板→统计。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本页对应95分档“专门技术深度整合”。现场可展示提示词、JSON响应和测试用例。来源：docs/Prompt测试用例.md；server/src/ai.js。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重点回应安全、稳定、工程结构和完整数据链。来源：README.md；server/test/api.test.js。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不要只展示最终代码；选1—2条失败提示和修正结果，说明人如何判断与验证。来源：docs/Vibe-Coding开发记录.md。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现场可运行 npm test 与 npm run build；浏览器验证结果来自本机实测。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结尾主动说明限制，随后回到项目价值；准备接受小功能修改。来源：课程介绍.pdf；README.md。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ad2995f46954ef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e4c65ff35634954" /><Relationship Type="http://schemas.openxmlformats.org/officeDocument/2006/relationships/slideLayout" Target="/ppt/slideLayouts/slideLayout1.xml" Id="R6a6729a31069432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a6729a31069432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d23148491d444a" /><Relationship Type="http://schemas.openxmlformats.org/officeDocument/2006/relationships/notesSlide" Target="/ppt/notesSlides/notesSlide1.xml" Id="Rb32cbdaa6ca742d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e93ac8795e486d" /><Relationship Type="http://schemas.openxmlformats.org/officeDocument/2006/relationships/notesSlide" Target="/ppt/notesSlides/notesSlide2.xml" Id="R89074d94c7904bd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c7bd0c91674240" /><Relationship Type="http://schemas.openxmlformats.org/officeDocument/2006/relationships/notesSlide" Target="/ppt/notesSlides/notesSlide3.xml" Id="Rcc5d753779234fb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c53f19ecaa49a5" /><Relationship Type="http://schemas.openxmlformats.org/officeDocument/2006/relationships/notesSlide" Target="/ppt/notesSlides/notesSlide4.xml" Id="R3481ae066e294e6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b067042e954657" /><Relationship Type="http://schemas.openxmlformats.org/officeDocument/2006/relationships/notesSlide" Target="/ppt/notesSlides/notesSlide5.xml" Id="Rb8e9aea15ead401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cbe406e53444b5" /><Relationship Type="http://schemas.openxmlformats.org/officeDocument/2006/relationships/notesSlide" Target="/ppt/notesSlides/notesSlide6.xml" Id="R7dc40eb6ec8d4f1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1397d94677465e" /><Relationship Type="http://schemas.openxmlformats.org/officeDocument/2006/relationships/notesSlide" Target="/ppt/notesSlides/notesSlide7.xml" Id="R1db76697b7e14f2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eb80d613504ff1" /><Relationship Type="http://schemas.openxmlformats.org/officeDocument/2006/relationships/notesSlide" Target="/ppt/notesSlides/notesSlide8.xml" Id="R036050ed43ab4a8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2f915e21dd42f4" /><Relationship Type="http://schemas.openxmlformats.org/officeDocument/2006/relationships/notesSlide" Target="/ppt/notesSlides/notesSlide9.xml" Id="R40e5ea7d0cc74a2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94d5a72cab4b5f" /><Relationship Type="http://schemas.openxmlformats.org/officeDocument/2006/relationships/notesSlide" Target="/ppt/notesSlides/notesSlide10.xml" Id="R4ab8483ba5434d4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0D1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63F9980-4A32-48F0-B361-97AAECB09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0"/>
            <a:ext cx="4286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252E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F6698A-5958-4AC9-BD55-706B01C5F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857250"/>
            <a:ext cx="1333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F58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58F6FC-F3D4-48DA-99AA-82B66B261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1409700"/>
            <a:ext cx="1285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B7FF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47A6ED-A0AD-43A1-ABBD-7026BBE31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1962150"/>
            <a:ext cx="1238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F58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DB2E63-EF82-456D-8E6F-EF028C4B6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514600"/>
            <a:ext cx="11906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B7FF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4480F9-1B39-4725-8179-3700E46F2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067050"/>
            <a:ext cx="1143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F58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F45C1A-43FF-4C65-B632-B3BA1A6E1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619500"/>
            <a:ext cx="1095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B7F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D0A38A-68AA-45D7-B4B2-92445ED31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4171950"/>
            <a:ext cx="1047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F58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1760BC-6FFE-422F-B45A-5DAF2972A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4724400"/>
            <a:ext cx="10001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B7FF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69F969-A4C5-4A77-9848-5ED213007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5276850"/>
            <a:ext cx="95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F58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FFF803-5367-4E9C-856A-E6606D9DF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6762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F7F8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F7F8FA"/>
                </a:solidFill>
                <a:latin typeface="Helvetica Neue"/>
                <a:ea typeface="Helvetica Neue"/>
                <a:cs typeface="Helvetica Neue"/>
              </a:rPr>
              <a:t>会议内容 → 可执行任务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FC997C-7935-4BA3-A007-A3AD61007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28875"/>
            <a:ext cx="676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A9B0B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A9B0BA"/>
                </a:solidFill>
                <a:latin typeface="Helvetica Neue"/>
                <a:ea typeface="Helvetica Neue"/>
                <a:cs typeface="Helvetica Neue"/>
              </a:rPr>
              <a:t>AI 驱动的团队任务管理系统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A0A617-476B-4C67-955D-1B0B06D70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81375"/>
            <a:ext cx="666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E7FF5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E7FF58"/>
                </a:solidFill>
                <a:latin typeface="Helvetica Neue"/>
                <a:ea typeface="Helvetica Neue"/>
                <a:cs typeface="Helvetica Neue"/>
              </a:rPr>
              <a:t>真实需求 · 完整数据闭环 · 人工确认兜底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62C835B-EE67-4784-9BDB-A39F47025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A9B0B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A9B0BA"/>
                </a:solidFill>
                <a:latin typeface="Helvetica Neue"/>
                <a:ea typeface="Helvetica Neue"/>
                <a:cs typeface="Helvetica Neue"/>
              </a:rPr>
              <a:t>Vibe Coding 课程项目答辩  |  2026.09</a:t>
            </a:r>
          </a:p>
        </p:txBody>
      </p:sp>
    </p:spTree>
    <p:extLst>
      <p:ext uri="{BB962C8B-B14F-4D97-AF65-F5344CB8AC3E}">
        <p14:creationId xmlns:p14="http://schemas.microsoft.com/office/powerpoint/2010/main" val="69667557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B0D1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5EF846F-6C7D-4C56-9AE0-051A84CDF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66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E7FF5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E7FF58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E68DB1-62DB-4616-8A77-B7A4CA724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7F8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F7F8FA"/>
                </a:solidFill>
                <a:latin typeface="Helvetica Neue"/>
                <a:ea typeface="Helvetica Neue"/>
                <a:cs typeface="Helvetica Neue"/>
              </a:rPr>
              <a:t>真实需求：会议结束，任务仍然散落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6EAB9C-FCC0-4523-9FD2-0662F14B1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81125"/>
            <a:ext cx="11144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42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2CB429-A976-4FF5-870E-57BD8B6F0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09750"/>
            <a:ext cx="3381375" cy="3905250"/>
          </a:xfrm>
          <a:prstGeom xmlns:a="http://schemas.openxmlformats.org/drawingml/2006/main" prst="roundRect">
            <a:avLst>
              <a:gd name="adj" fmla="val 5070"/>
            </a:avLst>
          </a:prstGeom>
          <a:solidFill xmlns:a="http://schemas.openxmlformats.org/drawingml/2006/main">
            <a:srgbClr val="171A1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28D215-7DEC-42ED-8CC5-1E36D15A0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809750"/>
            <a:ext cx="3381375" cy="3905250"/>
          </a:xfrm>
          <a:prstGeom xmlns:a="http://schemas.openxmlformats.org/drawingml/2006/main" prst="roundRect">
            <a:avLst>
              <a:gd name="adj" fmla="val 5070"/>
            </a:avLst>
          </a:prstGeom>
          <a:solidFill xmlns:a="http://schemas.openxmlformats.org/drawingml/2006/main">
            <a:srgbClr val="171A1F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A3C967-3797-41FF-9BD0-CD10D38A3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809750"/>
            <a:ext cx="3381375" cy="3905250"/>
          </a:xfrm>
          <a:prstGeom xmlns:a="http://schemas.openxmlformats.org/drawingml/2006/main" prst="roundRect">
            <a:avLst>
              <a:gd name="adj" fmla="val 5070"/>
            </a:avLst>
          </a:prstGeom>
          <a:solidFill xmlns:a="http://schemas.openxmlformats.org/drawingml/2006/main">
            <a:srgbClr val="171A1F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28B093-8410-4528-AC4E-F7DA59194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76450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E7FF5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E7FF58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18CEA0-1D96-4F18-A6A4-373930913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71750"/>
            <a:ext cx="2476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F7F8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F7F8FA"/>
                </a:solidFill>
                <a:latin typeface="Helvetica Neue"/>
                <a:ea typeface="Helvetica Neue"/>
                <a:cs typeface="Helvetica Neue"/>
              </a:rPr>
              <a:t>信息丢失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4E544E-CFFC-4FF0-AFB5-DA9973A8D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19450"/>
            <a:ext cx="261937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A9B0B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A9B0BA"/>
                </a:solidFill>
                <a:latin typeface="Helvetica Neue"/>
                <a:ea typeface="Helvetica Neue"/>
                <a:cs typeface="Helvetica Neue"/>
              </a:rPr>
              <a:t>口语化讨论里，负责人、截止时间和优先级容易遗漏。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8AEF32-4FD6-49BF-9BB9-9E8DBA411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076450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E7FF5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E7FF58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F29445-A0B6-47C6-BF34-FCD8A8452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571750"/>
            <a:ext cx="2476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F7F8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F7F8FA"/>
                </a:solidFill>
                <a:latin typeface="Helvetica Neue"/>
                <a:ea typeface="Helvetica Neue"/>
                <a:cs typeface="Helvetica Neue"/>
              </a:rPr>
              <a:t>同步成本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F685BB-AFDD-4369-9C17-9F9DBBEFD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219450"/>
            <a:ext cx="261937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A9B0B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A9B0BA"/>
                </a:solidFill>
                <a:latin typeface="Helvetica Neue"/>
                <a:ea typeface="Helvetica Neue"/>
                <a:cs typeface="Helvetica Neue"/>
              </a:rPr>
              <a:t>会后手工整理、分派、确认，重复且容易出错。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674F89-20BB-4BD8-AF15-AB186439C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076450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E7FF5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E7FF58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D56E17F-E8B9-422D-983A-7460249FA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571750"/>
            <a:ext cx="2476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F7F8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F7F8FA"/>
                </a:solidFill>
                <a:latin typeface="Helvetica Neue"/>
                <a:ea typeface="Helvetica Neue"/>
                <a:cs typeface="Helvetica Neue"/>
              </a:rPr>
              <a:t>缺少闭环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D650F74-207F-476B-B001-57D8E5D28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219450"/>
            <a:ext cx="2619375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A9B0B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A9B0BA"/>
                </a:solidFill>
                <a:latin typeface="Helvetica Neue"/>
                <a:ea typeface="Helvetica Neue"/>
                <a:cs typeface="Helvetica Neue"/>
              </a:rPr>
              <a:t>只有摘要还不够：任务必须进入权限、数据库和统计流程。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A810C4A-7D15-4499-B77D-7DA5F00EE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981700"/>
            <a:ext cx="971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E7FF5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E7FF58"/>
                </a:solidFill>
                <a:latin typeface="Helvetica Neue"/>
                <a:ea typeface="Helvetica Neue"/>
                <a:cs typeface="Helvetica Neue"/>
              </a:rPr>
              <a:t>我们的回答：录音/文本输入 → AI草稿 → 管理员确认 → 任务看板与统计</a:t>
            </a:r>
          </a:p>
        </p:txBody>
      </p:sp>
    </p:spTree>
    <p:extLst>
      <p:ext uri="{BB962C8B-B14F-4D97-AF65-F5344CB8AC3E}">
        <p14:creationId xmlns:p14="http://schemas.microsoft.com/office/powerpoint/2010/main" val="186051796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B0D1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4221FE0-6EFE-43AD-B005-CB7C4CD5B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66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E7FF5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E7FF58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18444A-E91E-4128-ACC7-63BC288AF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7F8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F7F8FA"/>
                </a:solidFill>
                <a:latin typeface="Helvetica Neue"/>
                <a:ea typeface="Helvetica Neue"/>
                <a:cs typeface="Helvetica Neue"/>
              </a:rPr>
              <a:t>团队分工：按系统边界协作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C14130-EF80-4B44-801B-C6444524B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81125"/>
            <a:ext cx="11144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42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9D54D8-8A04-49C8-8D00-C052306E4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09750"/>
            <a:ext cx="5238750" cy="16002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171A1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359F5D-6F6D-4049-A835-233F4B7A4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38350"/>
            <a:ext cx="4667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524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F7F8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F7F8FA"/>
                </a:solidFill>
                <a:latin typeface="Helvetica Neue"/>
                <a:ea typeface="Helvetica Neue"/>
                <a:cs typeface="Helvetica Neue"/>
              </a:rPr>
              <a:t>产品与提示词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F2381F-FE78-4030-A6D7-E4842FA95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52700"/>
            <a:ext cx="4667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A9B0B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A9B0BA"/>
                </a:solidFill>
                <a:latin typeface="Helvetica Neue"/>
                <a:ea typeface="Helvetica Neue"/>
                <a:cs typeface="Helvetica Neue"/>
              </a:rPr>
              <a:t>需求拆解、输出格式、边界规则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0B24E9-CABE-4F44-AEE6-57BCF542D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1809750"/>
            <a:ext cx="5238750" cy="16002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171A1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04CBE0-337D-4401-847F-3513FA875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2038350"/>
            <a:ext cx="4667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524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F7F8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F7F8FA"/>
                </a:solidFill>
                <a:latin typeface="Helvetica Neue"/>
                <a:ea typeface="Helvetica Neue"/>
                <a:cs typeface="Helvetica Neue"/>
              </a:rPr>
              <a:t>前端交互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751296-C7AA-472A-8030-5005BE34B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2552700"/>
            <a:ext cx="4667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A9B0B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A9B0BA"/>
                </a:solidFill>
                <a:latin typeface="Helvetica Neue"/>
                <a:ea typeface="Helvetica Neue"/>
                <a:cs typeface="Helvetica Neue"/>
              </a:rPr>
              <a:t>登录、录音上传、草稿确认、看板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E0C156-7108-4F64-8DE8-89A4AAC87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0"/>
            <a:ext cx="5238750" cy="16002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171A1F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0A4FDA-C020-4D2E-AD81-1AABB69C3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38600"/>
            <a:ext cx="4667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524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F7F8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F7F8FA"/>
                </a:solidFill>
                <a:latin typeface="Helvetica Neue"/>
                <a:ea typeface="Helvetica Neue"/>
                <a:cs typeface="Helvetica Neue"/>
              </a:rPr>
              <a:t>后端与数据库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95AC36-5465-4F66-B008-1AD9D3D1E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52950"/>
            <a:ext cx="4667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A9B0B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A9B0BA"/>
                </a:solidFill>
                <a:latin typeface="Helvetica Neue"/>
                <a:ea typeface="Helvetica Neue"/>
                <a:cs typeface="Helvetica Neue"/>
              </a:rPr>
              <a:t>鉴权、事务、SQLite、统计接口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8DD76B-9536-40D5-BBC7-EC8C2B558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3810000"/>
            <a:ext cx="5238750" cy="16002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171A1F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FCD38D3-A6FF-4993-8015-EE6B86F35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4038600"/>
            <a:ext cx="4667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524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F7F8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F7F8FA"/>
                </a:solidFill>
                <a:latin typeface="Helvetica Neue"/>
                <a:ea typeface="Helvetica Neue"/>
                <a:cs typeface="Helvetica Neue"/>
              </a:rPr>
              <a:t>集成测试与答辩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82B26F7-35A3-4568-8028-6AF3DCC01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4552950"/>
            <a:ext cx="4667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A9B0B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A9B0BA"/>
                </a:solidFill>
                <a:latin typeface="Helvetica Neue"/>
                <a:ea typeface="Helvetica Neue"/>
                <a:cs typeface="Helvetica Neue"/>
              </a:rPr>
              <a:t>真实录音联调、自动化测试、材料整理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B836F83-F4AD-43ED-B9DC-86E57A1A3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48375"/>
            <a:ext cx="1114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E7FF5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E7FF58"/>
                </a:solidFill>
                <a:latin typeface="Helvetica Neue"/>
                <a:ea typeface="Helvetica Neue"/>
                <a:cs typeface="Helvetica Neue"/>
              </a:rPr>
              <a:t>具体成员姓名可在最终提交前按小组名单补入《团队分工与提交清单》</a:t>
            </a:r>
          </a:p>
        </p:txBody>
      </p:sp>
    </p:spTree>
    <p:extLst>
      <p:ext uri="{BB962C8B-B14F-4D97-AF65-F5344CB8AC3E}">
        <p14:creationId xmlns:p14="http://schemas.microsoft.com/office/powerpoint/2010/main" val="198366960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B0D1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039D54D-3109-433E-A533-81E9FD7BF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66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E7FF5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E7FF58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AA33CF-0FC9-4976-9C9C-A269AA517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7F8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F7F8FA"/>
                </a:solidFill>
                <a:latin typeface="Helvetica Neue"/>
                <a:ea typeface="Helvetica Neue"/>
                <a:cs typeface="Helvetica Neue"/>
              </a:rPr>
              <a:t>系统数据流：模型能力进入业务闭环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4AA50B-EEEF-4A54-9DA1-EEDE44375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81125"/>
            <a:ext cx="11144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42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1FD494-165C-4622-AD53-53F3EB8C4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76500"/>
            <a:ext cx="1524000" cy="1352550"/>
          </a:xfrm>
          <a:prstGeom xmlns:a="http://schemas.openxmlformats.org/drawingml/2006/main" prst="roundRect">
            <a:avLst>
              <a:gd name="adj" fmla="val 12676"/>
            </a:avLst>
          </a:prstGeom>
          <a:solidFill xmlns:a="http://schemas.openxmlformats.org/drawingml/2006/main">
            <a:srgbClr val="171A1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F82F09-9BDE-4058-A3FB-54042BB36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705100"/>
            <a:ext cx="1295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65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F7F8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7F8FA"/>
                </a:solidFill>
                <a:latin typeface="Helvetica Neue"/>
                <a:ea typeface="Helvetica Neue"/>
                <a:cs typeface="Helvetica Neue"/>
              </a:rPr>
              <a:t>录音 / 文本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04AF2B-C96C-4BE5-A118-EEBC8BDD8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00400"/>
            <a:ext cx="1295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A9B0B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A9B0BA"/>
                </a:solidFill>
                <a:latin typeface="Helvetica Neue"/>
                <a:ea typeface="Helvetica Neue"/>
                <a:cs typeface="Helvetica Neue"/>
              </a:rPr>
              <a:t>浏览器输入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590758-E256-41B8-BA50-459D8759B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2886075"/>
            <a:ext cx="323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266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E7FF5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E7FF58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5D00EC-F92A-4DAE-988A-8135D16FE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2476500"/>
            <a:ext cx="1524000" cy="1352550"/>
          </a:xfrm>
          <a:prstGeom xmlns:a="http://schemas.openxmlformats.org/drawingml/2006/main" prst="roundRect">
            <a:avLst>
              <a:gd name="adj" fmla="val 12676"/>
            </a:avLst>
          </a:prstGeom>
          <a:solidFill xmlns:a="http://schemas.openxmlformats.org/drawingml/2006/main">
            <a:srgbClr val="171A1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B2761A-A353-4825-A62E-5A800D48A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2705100"/>
            <a:ext cx="1295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65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F7F8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7F8FA"/>
                </a:solidFill>
                <a:latin typeface="Helvetica Neue"/>
                <a:ea typeface="Helvetica Neue"/>
                <a:cs typeface="Helvetica Neue"/>
              </a:rPr>
              <a:t>转写接口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C87962-1FF4-4C47-9BF3-F7DD61C4C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3200400"/>
            <a:ext cx="1295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A9B0B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A9B0BA"/>
                </a:solidFill>
                <a:latin typeface="Helvetica Neue"/>
                <a:ea typeface="Helvetica Neue"/>
                <a:cs typeface="Helvetica Neue"/>
              </a:rPr>
              <a:t>音频→文本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A7656E-64D9-4625-9267-24E54F8A3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4775" y="2886075"/>
            <a:ext cx="323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266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E7FF5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E7FF58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6E64CD-6BB1-4F86-B2DF-BFA853CEE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476500"/>
            <a:ext cx="1524000" cy="1352550"/>
          </a:xfrm>
          <a:prstGeom xmlns:a="http://schemas.openxmlformats.org/drawingml/2006/main" prst="roundRect">
            <a:avLst>
              <a:gd name="adj" fmla="val 12676"/>
            </a:avLst>
          </a:prstGeom>
          <a:solidFill xmlns:a="http://schemas.openxmlformats.org/drawingml/2006/main">
            <a:srgbClr val="20242B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0C0A36-6EC3-4257-BD69-7B42B6C70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705100"/>
            <a:ext cx="1295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65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E7FF5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E7FF58"/>
                </a:solidFill>
                <a:latin typeface="Helvetica Neue"/>
                <a:ea typeface="Helvetica Neue"/>
                <a:cs typeface="Helvetica Neue"/>
              </a:rPr>
              <a:t>任务提取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B0EC1F-2A03-4499-848A-6DC383484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200400"/>
            <a:ext cx="1295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A9B0B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A9B0BA"/>
                </a:solidFill>
                <a:latin typeface="Helvetica Neue"/>
                <a:ea typeface="Helvetica Neue"/>
                <a:cs typeface="Helvetica Neue"/>
              </a:rPr>
              <a:t>文本→JSON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FA3B958-7BA3-4E00-A00F-CA217AA43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2886075"/>
            <a:ext cx="323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266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E7FF5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E7FF58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7C826A0-4A76-4E93-968A-9A9C86379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2476500"/>
            <a:ext cx="1524000" cy="1352550"/>
          </a:xfrm>
          <a:prstGeom xmlns:a="http://schemas.openxmlformats.org/drawingml/2006/main" prst="roundRect">
            <a:avLst>
              <a:gd name="adj" fmla="val 12676"/>
            </a:avLst>
          </a:prstGeom>
          <a:solidFill xmlns:a="http://schemas.openxmlformats.org/drawingml/2006/main">
            <a:srgbClr val="171A1F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D1E60E7-5A9E-4AA5-BFA8-D5F1B4AB1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2705100"/>
            <a:ext cx="1295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65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F7F8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7F8FA"/>
                </a:solidFill>
                <a:latin typeface="Helvetica Neue"/>
                <a:ea typeface="Helvetica Neue"/>
                <a:cs typeface="Helvetica Neue"/>
              </a:rPr>
              <a:t>后端校验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687AEB8-0787-4731-BFEA-07512C082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3200400"/>
            <a:ext cx="1295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A9B0B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A9B0BA"/>
                </a:solidFill>
                <a:latin typeface="Helvetica Neue"/>
                <a:ea typeface="Helvetica Neue"/>
                <a:cs typeface="Helvetica Neue"/>
              </a:rPr>
              <a:t>权限与规则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779E24C-1EA1-4FFE-AF21-6E21D2D5D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9525" y="2886075"/>
            <a:ext cx="323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266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E7FF5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E7FF58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B760460-277B-4571-93C2-5F5AB75E8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476500"/>
            <a:ext cx="1524000" cy="1352550"/>
          </a:xfrm>
          <a:prstGeom xmlns:a="http://schemas.openxmlformats.org/drawingml/2006/main" prst="roundRect">
            <a:avLst>
              <a:gd name="adj" fmla="val 12676"/>
            </a:avLst>
          </a:prstGeom>
          <a:solidFill xmlns:a="http://schemas.openxmlformats.org/drawingml/2006/main">
            <a:srgbClr val="171A1F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B2AA811-5D43-4BB0-8ECB-D72E27769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705100"/>
            <a:ext cx="1295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65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F7F8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7F8FA"/>
                </a:solidFill>
                <a:latin typeface="Helvetica Neue"/>
                <a:ea typeface="Helvetica Neue"/>
                <a:cs typeface="Helvetica Neue"/>
              </a:rPr>
              <a:t>人工确认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B7B151F-4DD9-4ED3-8DA3-B35CFCE95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200400"/>
            <a:ext cx="1295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A9B0B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A9B0BA"/>
                </a:solidFill>
                <a:latin typeface="Helvetica Neue"/>
                <a:ea typeface="Helvetica Neue"/>
                <a:cs typeface="Helvetica Neue"/>
              </a:rPr>
              <a:t>修改负责人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D825145-7256-42DE-8376-44131DB92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886075"/>
            <a:ext cx="323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266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E7FF5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E7FF58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89BBC8E-9E38-4329-A73E-A52071871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1225" y="2476500"/>
            <a:ext cx="1524000" cy="1352550"/>
          </a:xfrm>
          <a:prstGeom xmlns:a="http://schemas.openxmlformats.org/drawingml/2006/main" prst="roundRect">
            <a:avLst>
              <a:gd name="adj" fmla="val 12676"/>
            </a:avLst>
          </a:prstGeom>
          <a:solidFill xmlns:a="http://schemas.openxmlformats.org/drawingml/2006/main">
            <a:srgbClr val="171A1F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697E82C-0817-45E3-9150-50D7B8857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5525" y="2705100"/>
            <a:ext cx="1295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65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F7F8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7F8FA"/>
                </a:solidFill>
                <a:latin typeface="Helvetica Neue"/>
                <a:ea typeface="Helvetica Neue"/>
                <a:cs typeface="Helvetica Neue"/>
              </a:rPr>
              <a:t>任务数据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EE43E27-C0E8-4941-92F7-EB4A0C8B3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5525" y="3200400"/>
            <a:ext cx="1295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A9B0B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A9B0BA"/>
                </a:solidFill>
                <a:latin typeface="Helvetica Neue"/>
                <a:ea typeface="Helvetica Neue"/>
                <a:cs typeface="Helvetica Neue"/>
              </a:rPr>
              <a:t>看板与统计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BDE7F57-E484-4DF7-B239-75AE08C1C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762500"/>
            <a:ext cx="990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0">
                <a:solidFill>
                  <a:srgbClr val="F7F8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F7F8FA"/>
                </a:solidFill>
                <a:latin typeface="Helvetica Neue"/>
                <a:ea typeface="Helvetica Neue"/>
                <a:cs typeface="Helvetica Neue"/>
              </a:rPr>
              <a:t>API密钥只在后端读取  ·  未确认草稿不会直接成为正式任务  ·  操作保留可追踪记录</a:t>
            </a:r>
          </a:p>
        </p:txBody>
      </p:sp>
    </p:spTree>
    <p:extLst>
      <p:ext uri="{BB962C8B-B14F-4D97-AF65-F5344CB8AC3E}">
        <p14:creationId xmlns:p14="http://schemas.microsoft.com/office/powerpoint/2010/main" val="51582798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B0D1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65B2CE8-E2AC-4AEF-992C-155BB173F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66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E7FF5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E7FF58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583A1D-953C-41EA-960A-07BCA1556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7F8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F7F8FA"/>
                </a:solidFill>
                <a:latin typeface="Helvetica Neue"/>
                <a:ea typeface="Helvetica Neue"/>
                <a:cs typeface="Helvetica Neue"/>
              </a:rPr>
              <a:t>真实浏览器验证：从会议到统计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3193FA-E335-4E3A-B773-43B76E510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81125"/>
            <a:ext cx="11144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42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AAF252-E017-42DB-9CC7-355C86330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52625"/>
            <a:ext cx="2457450" cy="1524000"/>
          </a:xfrm>
          <a:prstGeom xmlns:a="http://schemas.openxmlformats.org/drawingml/2006/main" prst="roundRect">
            <a:avLst>
              <a:gd name="adj" fmla="val 11250"/>
            </a:avLst>
          </a:prstGeom>
          <a:solidFill xmlns:a="http://schemas.openxmlformats.org/drawingml/2006/main">
            <a:srgbClr val="171A1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361D77-B600-4286-A7D5-2B8179912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90750"/>
            <a:ext cx="2076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03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3150" b="1">
                <a:solidFill>
                  <a:srgbClr val="E7FF58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E7FF58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FF2322-F4C1-44F5-A290-EA9DD629C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838450"/>
            <a:ext cx="2076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A9B0B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A9B0BA"/>
                </a:solidFill>
                <a:latin typeface="Helvetica Neue"/>
                <a:ea typeface="Helvetica Neue"/>
                <a:cs typeface="Helvetica Neue"/>
              </a:rPr>
              <a:t>AI任务草稿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30BF9F-4120-45AB-86F9-586673A5F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1952625"/>
            <a:ext cx="2457450" cy="1524000"/>
          </a:xfrm>
          <a:prstGeom xmlns:a="http://schemas.openxmlformats.org/drawingml/2006/main" prst="roundRect">
            <a:avLst>
              <a:gd name="adj" fmla="val 11250"/>
            </a:avLst>
          </a:prstGeom>
          <a:solidFill xmlns:a="http://schemas.openxmlformats.org/drawingml/2006/main">
            <a:srgbClr val="171A1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C50C39-C607-4E43-B555-AEAD994FA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190750"/>
            <a:ext cx="2076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03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3150" b="1">
                <a:solidFill>
                  <a:srgbClr val="E7FF58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E7FF58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83E8AC-F9CC-430A-AB28-C81923B90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838450"/>
            <a:ext cx="2076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A9B0B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A9B0BA"/>
                </a:solidFill>
                <a:latin typeface="Helvetica Neue"/>
                <a:ea typeface="Helvetica Neue"/>
                <a:cs typeface="Helvetica Neue"/>
              </a:rPr>
              <a:t>已确认入库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C18997-D243-40D1-A989-DEDDEDAD9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952625"/>
            <a:ext cx="2457450" cy="1524000"/>
          </a:xfrm>
          <a:prstGeom xmlns:a="http://schemas.openxmlformats.org/drawingml/2006/main" prst="roundRect">
            <a:avLst>
              <a:gd name="adj" fmla="val 11250"/>
            </a:avLst>
          </a:prstGeom>
          <a:solidFill xmlns:a="http://schemas.openxmlformats.org/drawingml/2006/main">
            <a:srgbClr val="171A1F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184045-729A-457A-833F-848FB85AB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190750"/>
            <a:ext cx="2076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03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3150" b="1">
                <a:solidFill>
                  <a:srgbClr val="E7FF58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E7FF58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31872D-07BD-46CF-A552-98407A47F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838450"/>
            <a:ext cx="2076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A9B0B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A9B0BA"/>
                </a:solidFill>
                <a:latin typeface="Helvetica Neue"/>
                <a:ea typeface="Helvetica Neue"/>
                <a:cs typeface="Helvetica Neue"/>
              </a:rPr>
              <a:t>团队任务总数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2F9A3D-9BEE-437B-A971-94CEB5749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952625"/>
            <a:ext cx="2457450" cy="1524000"/>
          </a:xfrm>
          <a:prstGeom xmlns:a="http://schemas.openxmlformats.org/drawingml/2006/main" prst="roundRect">
            <a:avLst>
              <a:gd name="adj" fmla="val 11250"/>
            </a:avLst>
          </a:prstGeom>
          <a:solidFill xmlns:a="http://schemas.openxmlformats.org/drawingml/2006/main">
            <a:srgbClr val="171A1F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B5CBD17-1A8F-43FB-8E22-B6C0DFBEC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190750"/>
            <a:ext cx="2076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03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3150" b="1">
                <a:solidFill>
                  <a:srgbClr val="E7FF58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E7FF58"/>
                </a:solidFill>
                <a:latin typeface="Helvetica Neue"/>
                <a:ea typeface="Helvetica Neue"/>
                <a:cs typeface="Helvetica Neue"/>
              </a:rPr>
              <a:t>20%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9CCC760-57B9-48A5-AB5E-5E8BD4760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38450"/>
            <a:ext cx="2076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A9B0B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A9B0BA"/>
                </a:solidFill>
                <a:latin typeface="Helvetica Neue"/>
                <a:ea typeface="Helvetica Neue"/>
                <a:cs typeface="Helvetica Neue"/>
              </a:rPr>
              <a:t>当前完成率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C769D72-4436-4D04-A76D-6E3768685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17195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FF58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621E172-7F73-48ED-8266-5CA3BF4CE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095750"/>
            <a:ext cx="1000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F7F8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F7F8FA"/>
                </a:solidFill>
                <a:latin typeface="Helvetica Neue"/>
                <a:ea typeface="Helvetica Neue"/>
                <a:cs typeface="Helvetica Neue"/>
              </a:rPr>
              <a:t>真实会议文本生成 5 条草稿，模糊负责人保持“待确认”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353645D-7D81-4373-B7AE-905601ADD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80060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FF58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B01BD35-E391-4A9B-93C5-5DABA1196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724400"/>
            <a:ext cx="1000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F7F8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F7F8FA"/>
                </a:solidFill>
                <a:latin typeface="Helvetica Neue"/>
                <a:ea typeface="Helvetica Neue"/>
                <a:cs typeface="Helvetica Neue"/>
              </a:rPr>
              <a:t>管理员补充负责人后确认，任务立即出现在任务看板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4552489-4E52-47BE-98C1-215E1D45E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42925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FF58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E525E2B-E76A-47A5-8414-34AA2C21D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353050"/>
            <a:ext cx="1000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F7F8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F7F8FA"/>
                </a:solidFill>
                <a:latin typeface="Helvetica Neue"/>
                <a:ea typeface="Helvetica Neue"/>
                <a:cs typeface="Helvetica Neue"/>
              </a:rPr>
              <a:t>统计页同步显示总任务、未完成、逾期和完成率</a:t>
            </a:r>
          </a:p>
        </p:txBody>
      </p:sp>
    </p:spTree>
    <p:extLst>
      <p:ext uri="{BB962C8B-B14F-4D97-AF65-F5344CB8AC3E}">
        <p14:creationId xmlns:p14="http://schemas.microsoft.com/office/powerpoint/2010/main" val="182945511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B0D1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A3C4391-047B-441F-B1F7-6F034D7F9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66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E7FF5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E7FF58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A1F86B-EEED-437E-B844-1F744700F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7F8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F7F8FA"/>
                </a:solidFill>
                <a:latin typeface="Helvetica Neue"/>
                <a:ea typeface="Helvetica Neue"/>
                <a:cs typeface="Helvetica Neue"/>
              </a:rPr>
              <a:t>特色技术：AI接口的深度集成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546599-C140-4762-9A51-C4CA6B558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81125"/>
            <a:ext cx="11144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42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4E9193-3456-4EAD-8A87-B98E46EA2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09750"/>
            <a:ext cx="6762750" cy="4095750"/>
          </a:xfrm>
          <a:prstGeom xmlns:a="http://schemas.openxmlformats.org/drawingml/2006/main" prst="roundRect">
            <a:avLst>
              <a:gd name="adj" fmla="val 4186"/>
            </a:avLst>
          </a:prstGeom>
          <a:solidFill xmlns:a="http://schemas.openxmlformats.org/drawingml/2006/main">
            <a:srgbClr val="171A1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3DB0C7-EF0C-44BC-B4A2-A1B4EB395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809750"/>
            <a:ext cx="4038600" cy="4095750"/>
          </a:xfrm>
          <a:prstGeom xmlns:a="http://schemas.openxmlformats.org/drawingml/2006/main" prst="roundRect">
            <a:avLst>
              <a:gd name="adj" fmla="val 4245"/>
            </a:avLst>
          </a:prstGeom>
          <a:solidFill xmlns:a="http://schemas.openxmlformats.org/drawingml/2006/main">
            <a:srgbClr val="20242B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D32859-A04A-40D8-8B45-F6908B8F6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9075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FF58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A22B69-C7B0-48F4-B3B3-15AF7D2B9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114550"/>
            <a:ext cx="581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F7F8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F7F8FA"/>
                </a:solidFill>
                <a:latin typeface="Helvetica Neue"/>
                <a:ea typeface="Helvetica Neue"/>
                <a:cs typeface="Helvetica Neue"/>
              </a:rPr>
              <a:t>录音上传后由后端调用语音转写服务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8330CF-1B7D-4A0F-A0E2-4BF1E81CB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3370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FF58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2E1EA2-9914-458A-943C-9916D1BC3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857500"/>
            <a:ext cx="581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F7F8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F7F8FA"/>
                </a:solidFill>
                <a:latin typeface="Helvetica Neue"/>
                <a:ea typeface="Helvetica Neue"/>
                <a:cs typeface="Helvetica Neue"/>
              </a:rPr>
              <a:t>提示词要求只输出结构化任务JSON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3F395C-25B0-4DE1-9528-09855EA81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7665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FF58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96379F-E7BE-4ECD-9037-30FEB411B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600450"/>
            <a:ext cx="581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F7F8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F7F8FA"/>
                </a:solidFill>
                <a:latin typeface="Helvetica Neue"/>
                <a:ea typeface="Helvetica Neue"/>
                <a:cs typeface="Helvetica Neue"/>
              </a:rPr>
              <a:t>负责人、日期、优先级和原文依据均可校验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5B54EB-DA60-4CC7-88B9-BE281C126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1960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FF58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4110019-3A76-43D1-8B6E-6EF31C45A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343400"/>
            <a:ext cx="581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F7F8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F7F8FA"/>
                </a:solidFill>
                <a:latin typeface="Helvetica Neue"/>
                <a:ea typeface="Helvetica Neue"/>
                <a:cs typeface="Helvetica Neue"/>
              </a:rPr>
              <a:t>模糊日期、多人负责人、否定语句进入边界测试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3414480-7EDA-424F-9F87-9A2DA84C5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247900"/>
            <a:ext cx="333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7356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75" b="1">
                <a:solidFill>
                  <a:srgbClr val="E7FF5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E7FF58"/>
                </a:solidFill>
                <a:latin typeface="Helvetica Neue"/>
                <a:ea typeface="Helvetica Neue"/>
                <a:cs typeface="Helvetica Neue"/>
              </a:rPr>
              <a:t>模型不是数据库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CBAAC7C-9F2C-42A7-9E2D-43C9EB57F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952750"/>
            <a:ext cx="3143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0">
                <a:solidFill>
                  <a:srgbClr val="F7F8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F7F8FA"/>
                </a:solidFill>
                <a:latin typeface="Helvetica Neue"/>
                <a:ea typeface="Helvetica Neue"/>
                <a:cs typeface="Helvetica Neue"/>
              </a:rPr>
              <a:t>模型输出先成为草稿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buNone/>
              <a:defRPr sz="1725" b="0">
                <a:solidFill>
                  <a:srgbClr val="F7F8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F7F8FA"/>
                </a:solidFill>
                <a:latin typeface="Helvetica Neue"/>
                <a:ea typeface="Helvetica Neue"/>
                <a:cs typeface="Helvetica Neue"/>
              </a:rPr>
              <a:t>后端验证字段与权限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buNone/>
              <a:defRPr sz="1725" b="0">
                <a:solidFill>
                  <a:srgbClr val="F7F8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F7F8FA"/>
                </a:solidFill>
                <a:latin typeface="Helvetica Neue"/>
                <a:ea typeface="Helvetica Neue"/>
                <a:cs typeface="Helvetica Neue"/>
              </a:rPr>
              <a:t>管理员确认后再写入</a:t>
            </a:r>
          </a:p>
        </p:txBody>
      </p:sp>
    </p:spTree>
    <p:extLst>
      <p:ext uri="{BB962C8B-B14F-4D97-AF65-F5344CB8AC3E}">
        <p14:creationId xmlns:p14="http://schemas.microsoft.com/office/powerpoint/2010/main" val="82769958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B0D1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50ACBD6-0D34-4C88-B5F9-13FB5E563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66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E7FF5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E7FF58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92B68D-ADBD-47AF-ABB3-0FB410678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7F8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F7F8FA"/>
                </a:solidFill>
                <a:latin typeface="Helvetica Neue"/>
                <a:ea typeface="Helvetica Neue"/>
                <a:cs typeface="Helvetica Neue"/>
              </a:rPr>
              <a:t>可靠性设计：让AI输出可控、可追踪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590813-D253-4C9D-AB36-0687C31E7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81125"/>
            <a:ext cx="11144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42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81D7B4-8C0A-4B41-843E-179353B79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09750"/>
            <a:ext cx="3381375" cy="16002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171A1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D0D647-D594-4F6C-A4E4-A721BE39B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19300"/>
            <a:ext cx="857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611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E7FF5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E7FF58"/>
                </a:solidFill>
                <a:latin typeface="Helvetica Neue"/>
                <a:ea typeface="Helvetica Neue"/>
                <a:cs typeface="Helvetica Neue"/>
              </a:rPr>
              <a:t>权限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D12FA5-D769-4352-89EA-EA0FF6ABF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76500"/>
            <a:ext cx="29146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F7F8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F7F8FA"/>
                </a:solidFill>
                <a:latin typeface="Helvetica Neue"/>
                <a:ea typeface="Helvetica Neue"/>
                <a:cs typeface="Helvetica Neue"/>
              </a:rPr>
              <a:t>成员与管理员分权；确认操作受保护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842D4A-B0DF-4EE8-9E5B-B13F1F0C3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1809750"/>
            <a:ext cx="3381375" cy="16002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171A1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157994-4AAD-44E3-9E03-DBA87932B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019300"/>
            <a:ext cx="857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611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E7FF5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E7FF58"/>
                </a:solidFill>
                <a:latin typeface="Helvetica Neue"/>
                <a:ea typeface="Helvetica Neue"/>
                <a:cs typeface="Helvetica Neue"/>
              </a:rPr>
              <a:t>密钥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5C9AC3-9DF8-47FD-8E35-98EA407EF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476500"/>
            <a:ext cx="29146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F7F8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F7F8FA"/>
                </a:solidFill>
                <a:latin typeface="Helvetica Neue"/>
                <a:ea typeface="Helvetica Neue"/>
                <a:cs typeface="Helvetica Neue"/>
              </a:rPr>
              <a:t>只读环境变量，不进入前端和仓库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8CCA4F-A2A0-45B2-A462-2A4C32FBD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1809750"/>
            <a:ext cx="3381375" cy="16002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171A1F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DDD876-2AFF-4833-B2F1-A3228DC78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019300"/>
            <a:ext cx="857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611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E7FF5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E7FF58"/>
                </a:solidFill>
                <a:latin typeface="Helvetica Neue"/>
                <a:ea typeface="Helvetica Neue"/>
                <a:cs typeface="Helvetica Neue"/>
              </a:rPr>
              <a:t>事务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CA301F-5CDF-4EBB-A2A6-755478A7B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476500"/>
            <a:ext cx="29146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F7F8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F7F8FA"/>
                </a:solidFill>
                <a:latin typeface="Helvetica Neue"/>
                <a:ea typeface="Helvetica Neue"/>
                <a:cs typeface="Helvetica Neue"/>
              </a:rPr>
              <a:t>批量确认失败时整体回滚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B94F7AC-ADD3-4B95-B3EB-AD4476E92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0"/>
            <a:ext cx="3381375" cy="16002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171A1F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FA11B3-4EFF-4402-88CC-BE24E5F36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19550"/>
            <a:ext cx="857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611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E7FF5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E7FF58"/>
                </a:solidFill>
                <a:latin typeface="Helvetica Neue"/>
                <a:ea typeface="Helvetica Neue"/>
                <a:cs typeface="Helvetica Neue"/>
              </a:rPr>
              <a:t>校验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7EBCED8-B046-4BBD-9A31-71D3428B1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76750"/>
            <a:ext cx="29146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F7F8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F7F8FA"/>
                </a:solidFill>
                <a:latin typeface="Helvetica Neue"/>
                <a:ea typeface="Helvetica Neue"/>
                <a:cs typeface="Helvetica Neue"/>
              </a:rPr>
              <a:t>结构、成员、日期、状态统一检查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1FDFD34-73DD-4F59-BA2A-FF352C2AA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810000"/>
            <a:ext cx="3381375" cy="16002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171A1F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D35D7F3-6F8C-4AB7-AD60-AE247EC37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019550"/>
            <a:ext cx="857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611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E7FF5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E7FF58"/>
                </a:solidFill>
                <a:latin typeface="Helvetica Neue"/>
                <a:ea typeface="Helvetica Neue"/>
                <a:cs typeface="Helvetica Neue"/>
              </a:rPr>
              <a:t>兜底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2A5E74C-F9DD-4E2A-8F6B-35427BD99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476750"/>
            <a:ext cx="29146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F7F8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F7F8FA"/>
                </a:solidFill>
                <a:latin typeface="Helvetica Neue"/>
                <a:ea typeface="Helvetica Neue"/>
                <a:cs typeface="Helvetica Neue"/>
              </a:rPr>
              <a:t>模型失败时给出清晰错误，不伪造结果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F0BBB25-3CB6-4DE9-AE08-6D0C4E4AC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810000"/>
            <a:ext cx="3381375" cy="16002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171A1F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57C5D34-125A-459B-B01B-6DF70B200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019550"/>
            <a:ext cx="857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611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E7FF5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E7FF58"/>
                </a:solidFill>
                <a:latin typeface="Helvetica Neue"/>
                <a:ea typeface="Helvetica Neue"/>
                <a:cs typeface="Helvetica Neue"/>
              </a:rPr>
              <a:t>追踪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D9B1F27-46D6-4591-ACD4-F6CAB56B5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476750"/>
            <a:ext cx="29146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F7F8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F7F8FA"/>
                </a:solidFill>
                <a:latin typeface="Helvetica Neue"/>
                <a:ea typeface="Helvetica Neue"/>
                <a:cs typeface="Helvetica Neue"/>
              </a:rPr>
              <a:t>草稿、正式任务与统计形成数据链</a:t>
            </a:r>
          </a:p>
        </p:txBody>
      </p:sp>
    </p:spTree>
    <p:extLst>
      <p:ext uri="{BB962C8B-B14F-4D97-AF65-F5344CB8AC3E}">
        <p14:creationId xmlns:p14="http://schemas.microsoft.com/office/powerpoint/2010/main" val="52878503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B0D1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CFF1217-876E-4177-AAB2-9B203B7A8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66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E7FF5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E7FF58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F61BE5-B982-4657-A46B-5758BAEC7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7F8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F7F8FA"/>
                </a:solidFill>
                <a:latin typeface="Helvetica Neue"/>
                <a:ea typeface="Helvetica Neue"/>
                <a:cs typeface="Helvetica Neue"/>
              </a:rPr>
              <a:t>Vibe Coding：5次关键迭代留下证据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99C8D2-9D4C-4CF0-B0F8-E0E19ECB1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81125"/>
            <a:ext cx="11144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42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C7389B-32BF-4602-BA4B-CD9CFAB4B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43075"/>
            <a:ext cx="895350" cy="55245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20242B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02156F-550E-4FCD-B8E6-010B196B5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43075"/>
            <a:ext cx="895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E7FF5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E7FF58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360A3A-769A-403C-9303-7A57ED830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1743075"/>
            <a:ext cx="552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F7F8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7F8FA"/>
                </a:solidFill>
                <a:latin typeface="Helvetica Neue"/>
                <a:ea typeface="Helvetica Neue"/>
                <a:cs typeface="Helvetica Neue"/>
              </a:rPr>
              <a:t>数据库与任务模型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E9DD03-FE1F-400B-AF91-1A4556192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743075"/>
            <a:ext cx="342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A9B0B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A9B0BA"/>
                </a:solidFill>
                <a:latin typeface="Helvetica Neue"/>
                <a:ea typeface="Helvetica Neue"/>
                <a:cs typeface="Helvetica Neue"/>
              </a:rPr>
              <a:t>先建立可运行数据结构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32F962-A2BC-49E4-82AB-52F26E434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81275"/>
            <a:ext cx="895350" cy="55245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20242B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59DDA1-BB88-43C7-934B-467A00FAB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81275"/>
            <a:ext cx="895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E7FF5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E7FF58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8D2F20-1A71-4B24-A0F3-411267957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2581275"/>
            <a:ext cx="552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F7F8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7F8FA"/>
                </a:solidFill>
                <a:latin typeface="Helvetica Neue"/>
                <a:ea typeface="Helvetica Neue"/>
                <a:cs typeface="Helvetica Neue"/>
              </a:rPr>
              <a:t>登录与角色权限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512396-92C0-458E-8918-AD0FB2EC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581275"/>
            <a:ext cx="342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A9B0B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A9B0BA"/>
                </a:solidFill>
                <a:latin typeface="Helvetica Neue"/>
                <a:ea typeface="Helvetica Neue"/>
                <a:cs typeface="Helvetica Neue"/>
              </a:rPr>
              <a:t>把权限放进接口边界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866DAFF-FD9B-4C26-BB07-772FBC6B3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19475"/>
            <a:ext cx="895350" cy="55245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20242B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64D0AC0-ED7F-43A3-A581-D1CA08634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19475"/>
            <a:ext cx="895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E7FF5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E7FF58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E510B54-589B-4AE2-8755-8BB98B893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3419475"/>
            <a:ext cx="552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F7F8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7F8FA"/>
                </a:solidFill>
                <a:latin typeface="Helvetica Neue"/>
                <a:ea typeface="Helvetica Neue"/>
                <a:cs typeface="Helvetica Neue"/>
              </a:rPr>
              <a:t>提示词与日期歧义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C53CC64-0D09-4857-8E98-90150B09F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419475"/>
            <a:ext cx="342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A9B0B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A9B0BA"/>
                </a:solidFill>
                <a:latin typeface="Helvetica Neue"/>
                <a:ea typeface="Helvetica Neue"/>
                <a:cs typeface="Helvetica Neue"/>
              </a:rPr>
              <a:t>从失败样例反推规则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B93B5F0-3B22-4FEE-8A2B-6DF38E3DF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57675"/>
            <a:ext cx="895350" cy="55245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20242B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B47333B-46A8-443A-B624-9B4504CDA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57675"/>
            <a:ext cx="895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E7FF5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E7FF58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8067D99-E9BB-46A4-9D0C-5AD998633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257675"/>
            <a:ext cx="552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F7F8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7F8FA"/>
                </a:solidFill>
                <a:latin typeface="Helvetica Neue"/>
                <a:ea typeface="Helvetica Neue"/>
                <a:cs typeface="Helvetica Neue"/>
              </a:rPr>
              <a:t>批量确认与事务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4336AA2-5395-41B8-8C37-18FC2D4C4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257675"/>
            <a:ext cx="342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A9B0B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A9B0BA"/>
                </a:solidFill>
                <a:latin typeface="Helvetica Neue"/>
                <a:ea typeface="Helvetica Neue"/>
                <a:cs typeface="Helvetica Neue"/>
              </a:rPr>
              <a:t>保证数据一致性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44AA7EA-3CDA-4F8B-AC2E-B511EAAC6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95875"/>
            <a:ext cx="895350" cy="55245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E7FF58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1F95FBE-DC2B-4341-A673-CB6E0B718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95875"/>
            <a:ext cx="895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0B0D1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B0D10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8D9A4C4-C1AE-44DC-BA12-9462EE319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5095875"/>
            <a:ext cx="552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F7F8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7F8FA"/>
                </a:solidFill>
                <a:latin typeface="Helvetica Neue"/>
                <a:ea typeface="Helvetica Neue"/>
                <a:cs typeface="Helvetica Neue"/>
              </a:rPr>
              <a:t>真实录音与端到端测试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A17A126-3468-4B0B-A4AF-53F1A6E04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095875"/>
            <a:ext cx="342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A9B0B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A9B0BA"/>
                </a:solidFill>
                <a:latin typeface="Helvetica Neue"/>
                <a:ea typeface="Helvetica Neue"/>
                <a:cs typeface="Helvetica Neue"/>
              </a:rPr>
              <a:t>用真实输入检验完整链路</a:t>
            </a:r>
          </a:p>
        </p:txBody>
      </p:sp>
    </p:spTree>
    <p:extLst>
      <p:ext uri="{BB962C8B-B14F-4D97-AF65-F5344CB8AC3E}">
        <p14:creationId xmlns:p14="http://schemas.microsoft.com/office/powerpoint/2010/main" val="171030542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B0D1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F3CA47B-7807-43A4-965A-5804D5634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66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E7FF5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E7FF58"/>
                </a:solidFill>
                <a:latin typeface="Helvetica Neue"/>
                <a:ea typeface="Helvetica Neue"/>
                <a:cs typeface="Helvetica Neue"/>
              </a:rPr>
              <a:t>09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3BC0B9-BD76-4A75-A910-EC02FE211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7F8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F7F8FA"/>
                </a:solidFill>
                <a:latin typeface="Helvetica Neue"/>
                <a:ea typeface="Helvetica Neue"/>
                <a:cs typeface="Helvetica Neue"/>
              </a:rPr>
              <a:t>交付证据：可运行、可验证、可复现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5303A2-A682-4946-933F-298D85ED4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81125"/>
            <a:ext cx="11144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42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9B711D-4D32-4002-85A3-6C665DC36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00250"/>
            <a:ext cx="3238500" cy="2190750"/>
          </a:xfrm>
          <a:prstGeom xmlns:a="http://schemas.openxmlformats.org/drawingml/2006/main" prst="roundRect">
            <a:avLst>
              <a:gd name="adj" fmla="val 7826"/>
            </a:avLst>
          </a:prstGeom>
          <a:solidFill xmlns:a="http://schemas.openxmlformats.org/drawingml/2006/main">
            <a:srgbClr val="171A1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859E91-AEAE-497C-A1FA-79165BE37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33625"/>
            <a:ext cx="2781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3600" b="1">
                <a:solidFill>
                  <a:srgbClr val="73DDA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73DDAA"/>
                </a:solidFill>
                <a:latin typeface="Helvetica Neue"/>
                <a:ea typeface="Helvetica Neue"/>
                <a:cs typeface="Helvetica Neue"/>
              </a:rPr>
              <a:t>15 / 15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D9A352-85F4-42BF-B795-A0A9B5337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143250"/>
            <a:ext cx="2781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7F8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F7F8FA"/>
                </a:solidFill>
                <a:latin typeface="Helvetica Neue"/>
                <a:ea typeface="Helvetica Neue"/>
                <a:cs typeface="Helvetica Neue"/>
              </a:rPr>
              <a:t>自动化测试通过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547EFE-D7E7-4FEC-9369-18FFE161D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00250"/>
            <a:ext cx="3238500" cy="2190750"/>
          </a:xfrm>
          <a:prstGeom xmlns:a="http://schemas.openxmlformats.org/drawingml/2006/main" prst="roundRect">
            <a:avLst>
              <a:gd name="adj" fmla="val 7826"/>
            </a:avLst>
          </a:prstGeom>
          <a:solidFill xmlns:a="http://schemas.openxmlformats.org/drawingml/2006/main">
            <a:srgbClr val="171A1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958C81-3220-4178-A689-3BEA0F01E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333625"/>
            <a:ext cx="2781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3600" b="1">
                <a:solidFill>
                  <a:srgbClr val="69B7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69B7FF"/>
                </a:solidFill>
                <a:latin typeface="Helvetica Neue"/>
                <a:ea typeface="Helvetica Neue"/>
                <a:cs typeface="Helvetica Neue"/>
              </a:rPr>
              <a:t>52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3CA726-8DC3-4FA0-A391-6EFDB74B6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143250"/>
            <a:ext cx="2781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7F8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F7F8FA"/>
                </a:solidFill>
                <a:latin typeface="Helvetica Neue"/>
                <a:ea typeface="Helvetica Neue"/>
                <a:cs typeface="Helvetica Neue"/>
              </a:rPr>
              <a:t>前端构建模块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3D18FD-A19E-48D5-A8BA-A4CCCAE7F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000250"/>
            <a:ext cx="3238500" cy="2190750"/>
          </a:xfrm>
          <a:prstGeom xmlns:a="http://schemas.openxmlformats.org/drawingml/2006/main" prst="roundRect">
            <a:avLst>
              <a:gd name="adj" fmla="val 7826"/>
            </a:avLst>
          </a:prstGeom>
          <a:solidFill xmlns:a="http://schemas.openxmlformats.org/drawingml/2006/main">
            <a:srgbClr val="171A1F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0A86CB-9FD4-457E-B7C5-83384432F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333625"/>
            <a:ext cx="2781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3600" b="1">
                <a:solidFill>
                  <a:srgbClr val="E7FF58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E7FF58"/>
                </a:solidFill>
                <a:latin typeface="Helvetica Neue"/>
                <a:ea typeface="Helvetica Neue"/>
                <a:cs typeface="Helvetica Neue"/>
              </a:rPr>
              <a:t>6步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8DAF4B-9CD0-4028-8CC4-86DD74B36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143250"/>
            <a:ext cx="2781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7F8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F7F8FA"/>
                </a:solidFill>
                <a:latin typeface="Helvetica Neue"/>
                <a:ea typeface="Helvetica Neue"/>
                <a:cs typeface="Helvetica Neue"/>
              </a:rPr>
              <a:t>浏览器闭环验证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783AF2-CF22-4F64-BEFE-701F0D96A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83870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FF58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AA781E5-EE01-4F27-9048-7BB443C99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762500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F7F8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F7F8FA"/>
                </a:solidFill>
                <a:latin typeface="Helvetica Neue"/>
                <a:ea typeface="Helvetica Neue"/>
                <a:cs typeface="Helvetica Neue"/>
              </a:rPr>
              <a:t>覆盖权限、输入校验、边界语句、事务与语音转写接口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3F180D1-A6BB-48F8-A1CD-477522610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42925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FF58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B00D31C-CC1E-440D-B3F3-7F4418190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353050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F7F8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F7F8FA"/>
                </a:solidFill>
                <a:latin typeface="Helvetica Neue"/>
                <a:ea typeface="Helvetica Neue"/>
                <a:cs typeface="Helvetica Neue"/>
              </a:rPr>
              <a:t>README、技术说明、Vibe日志和答辩材料均随代码提交</a:t>
            </a:r>
          </a:p>
        </p:txBody>
      </p:sp>
    </p:spTree>
    <p:extLst>
      <p:ext uri="{BB962C8B-B14F-4D97-AF65-F5344CB8AC3E}">
        <p14:creationId xmlns:p14="http://schemas.microsoft.com/office/powerpoint/2010/main" val="125120240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B0D1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B6E588F-73FA-4795-8DB9-424C354A4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66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E7FF5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E7FF58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927D69-08F3-4986-B688-022D425A8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7F8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F7F8FA"/>
                </a:solidFill>
                <a:latin typeface="Helvetica Neue"/>
                <a:ea typeface="Helvetica Neue"/>
                <a:cs typeface="Helvetica Neue"/>
              </a:rPr>
              <a:t>限制与下一步：从课程项目走向真实使用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61F184-09B8-4C3A-BCDA-92F00ECA8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81125"/>
            <a:ext cx="11144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42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35BD38-EA64-4884-B2CA-66D68F050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09750"/>
            <a:ext cx="5238750" cy="3762375"/>
          </a:xfrm>
          <a:prstGeom xmlns:a="http://schemas.openxmlformats.org/drawingml/2006/main" prst="roundRect">
            <a:avLst>
              <a:gd name="adj" fmla="val 4557"/>
            </a:avLst>
          </a:prstGeom>
          <a:solidFill xmlns:a="http://schemas.openxmlformats.org/drawingml/2006/main">
            <a:srgbClr val="171A1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088732-F8F7-49B2-AC17-00BED43A6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809750"/>
            <a:ext cx="5238750" cy="3762375"/>
          </a:xfrm>
          <a:prstGeom xmlns:a="http://schemas.openxmlformats.org/drawingml/2006/main" prst="roundRect">
            <a:avLst>
              <a:gd name="adj" fmla="val 4557"/>
            </a:avLst>
          </a:prstGeom>
          <a:solidFill xmlns:a="http://schemas.openxmlformats.org/drawingml/2006/main">
            <a:srgbClr val="20242B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D588B9-CE04-4E32-94F8-1D0362CB8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95500"/>
            <a:ext cx="457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851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FF7A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FF7A7A"/>
                </a:solidFill>
                <a:latin typeface="Helvetica Neue"/>
                <a:ea typeface="Helvetica Neue"/>
                <a:cs typeface="Helvetica Neue"/>
              </a:rPr>
              <a:t>当前限制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2DFA66-1DAA-44A3-9E9A-1814FA9D4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0035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FF58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5EBEFC-A6B6-4063-AF99-15D16756A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724150"/>
            <a:ext cx="419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F7F8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F7F8FA"/>
                </a:solidFill>
                <a:latin typeface="Helvetica Neue"/>
                <a:ea typeface="Helvetica Neue"/>
                <a:cs typeface="Helvetica Neue"/>
              </a:rPr>
              <a:t>真实云端转写依赖有效API额度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B2C421-5783-4F16-B9D3-E1AB29F53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4330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FF58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21F596-A550-4094-BA7C-B270716CA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467100"/>
            <a:ext cx="419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F7F8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F7F8FA"/>
                </a:solidFill>
                <a:latin typeface="Helvetica Neue"/>
                <a:ea typeface="Helvetica Neue"/>
                <a:cs typeface="Helvetica Neue"/>
              </a:rPr>
              <a:t>当前为本地SQLite与单机部署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00392A-5EC3-4AC0-833B-796A07D3A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8625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FF58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DED674-C25D-471A-8F7B-69A333F5F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210050"/>
            <a:ext cx="419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F7F8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F7F8FA"/>
                </a:solidFill>
                <a:latin typeface="Helvetica Neue"/>
                <a:ea typeface="Helvetica Neue"/>
                <a:cs typeface="Helvetica Neue"/>
              </a:rPr>
              <a:t>团队成员姓名和最终演示数据待确认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1574513-F79C-4F69-A1F3-8391A2262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095500"/>
            <a:ext cx="457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851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E7FF5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E7FF58"/>
                </a:solidFill>
                <a:latin typeface="Helvetica Neue"/>
                <a:ea typeface="Helvetica Neue"/>
                <a:cs typeface="Helvetica Neue"/>
              </a:rPr>
              <a:t>下一步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096AEB4-C562-457A-8207-1E066C3E6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80035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FF58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C3EBB53-5544-4DD6-9AC2-2FA77A96F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724150"/>
            <a:ext cx="419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F7F8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F7F8FA"/>
                </a:solidFill>
                <a:latin typeface="Helvetica Neue"/>
                <a:ea typeface="Helvetica Neue"/>
                <a:cs typeface="Helvetica Neue"/>
              </a:rPr>
              <a:t>补齐云端转写成功录屏与耗时记录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EAC1B6E-A0E8-4866-95F6-E987E89C3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54330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FF58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E8CFE18-D47D-4773-9800-C38C2567A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467100"/>
            <a:ext cx="419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F7F8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F7F8FA"/>
                </a:solidFill>
                <a:latin typeface="Helvetica Neue"/>
                <a:ea typeface="Helvetica Neue"/>
                <a:cs typeface="Helvetica Neue"/>
              </a:rPr>
              <a:t>增加部署、日志、费用与隐私说明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5E9D2B7-61AC-4BB5-ACFD-BF26EE9A3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28625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FF58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2FA9C49-898A-4A4C-87C6-7F59B310B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210050"/>
            <a:ext cx="419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F7F8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F7F8FA"/>
                </a:solidFill>
                <a:latin typeface="Helvetica Neue"/>
                <a:ea typeface="Helvetica Neue"/>
                <a:cs typeface="Helvetica Neue"/>
              </a:rPr>
              <a:t>按教师临时修改现场调整字段或规则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5B450B1-16C2-41C1-9AA5-F8AFDFBE8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953125"/>
            <a:ext cx="10553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7F8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F7F8FA"/>
                </a:solidFill>
                <a:latin typeface="Helvetica Neue"/>
                <a:ea typeface="Helvetica Neue"/>
                <a:cs typeface="Helvetica Neue"/>
              </a:rPr>
              <a:t>核心价值：把模糊会议内容变成经过确认、能够执行、可以统计的团队任务</a:t>
            </a:r>
          </a:p>
        </p:txBody>
      </p:sp>
    </p:spTree>
    <p:extLst>
      <p:ext uri="{BB962C8B-B14F-4D97-AF65-F5344CB8AC3E}">
        <p14:creationId xmlns:p14="http://schemas.microsoft.com/office/powerpoint/2010/main" val="21999290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2026-09-09T14:23:50.0460000Z</dcterms:created>
  <dcterms:modified xsi:type="dcterms:W3CDTF">2026-09-09T14:23:50.0460000Z</dcterms:modified>
</coreProperties>
</file>